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Garamond" panose="02020404030301010803" pitchFamily="18" charset="0"/>
      <p:regular r:id="rId8"/>
      <p:bold r:id="rId9"/>
      <p:italic r:id="rId10"/>
    </p:embeddedFon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  <p:embeddedFont>
      <p:font typeface="League Spartan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  <p:embeddedFont>
      <p:font typeface="Roboto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46413" y="-426238"/>
            <a:ext cx="3086100" cy="12170822"/>
            <a:chOff x="0" y="0"/>
            <a:chExt cx="812800" cy="320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3205484"/>
            </a:xfrm>
            <a:custGeom>
              <a:avLst/>
              <a:gdLst/>
              <a:ahLst/>
              <a:cxnLst/>
              <a:rect l="l" t="t" r="r" b="b"/>
              <a:pathLst>
                <a:path w="812800" h="3205484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077543"/>
                  </a:lnTo>
                  <a:cubicBezTo>
                    <a:pt x="812800" y="3111475"/>
                    <a:pt x="799321" y="3144017"/>
                    <a:pt x="775327" y="3168011"/>
                  </a:cubicBezTo>
                  <a:cubicBezTo>
                    <a:pt x="751333" y="3192005"/>
                    <a:pt x="718791" y="3205484"/>
                    <a:pt x="684859" y="3205484"/>
                  </a:cubicBezTo>
                  <a:lnTo>
                    <a:pt x="127941" y="3205484"/>
                  </a:lnTo>
                  <a:cubicBezTo>
                    <a:pt x="94009" y="3205484"/>
                    <a:pt x="61467" y="3192005"/>
                    <a:pt x="37473" y="3168011"/>
                  </a:cubicBezTo>
                  <a:cubicBezTo>
                    <a:pt x="13479" y="3144017"/>
                    <a:pt x="0" y="3111475"/>
                    <a:pt x="0" y="307754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B58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3243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8910" y="2549884"/>
            <a:ext cx="9352205" cy="5681617"/>
            <a:chOff x="0" y="0"/>
            <a:chExt cx="2463132" cy="1496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3132" cy="1496393"/>
            </a:xfrm>
            <a:custGeom>
              <a:avLst/>
              <a:gdLst/>
              <a:ahLst/>
              <a:cxnLst/>
              <a:rect l="l" t="t" r="r" b="b"/>
              <a:pathLst>
                <a:path w="2463132" h="1496393">
                  <a:moveTo>
                    <a:pt x="42219" y="0"/>
                  </a:moveTo>
                  <a:lnTo>
                    <a:pt x="2420913" y="0"/>
                  </a:lnTo>
                  <a:cubicBezTo>
                    <a:pt x="2444230" y="0"/>
                    <a:pt x="2463132" y="18902"/>
                    <a:pt x="2463132" y="42219"/>
                  </a:cubicBezTo>
                  <a:lnTo>
                    <a:pt x="2463132" y="1454174"/>
                  </a:lnTo>
                  <a:cubicBezTo>
                    <a:pt x="2463132" y="1465372"/>
                    <a:pt x="2458684" y="1476110"/>
                    <a:pt x="2450767" y="1484028"/>
                  </a:cubicBezTo>
                  <a:cubicBezTo>
                    <a:pt x="2442849" y="1491945"/>
                    <a:pt x="2432111" y="1496393"/>
                    <a:pt x="2420913" y="1496393"/>
                  </a:cubicBezTo>
                  <a:lnTo>
                    <a:pt x="42219" y="1496393"/>
                  </a:lnTo>
                  <a:cubicBezTo>
                    <a:pt x="31022" y="1496393"/>
                    <a:pt x="20283" y="1491945"/>
                    <a:pt x="12366" y="1484028"/>
                  </a:cubicBezTo>
                  <a:cubicBezTo>
                    <a:pt x="4448" y="1476110"/>
                    <a:pt x="0" y="1465372"/>
                    <a:pt x="0" y="1454174"/>
                  </a:cubicBezTo>
                  <a:lnTo>
                    <a:pt x="0" y="42219"/>
                  </a:lnTo>
                  <a:cubicBezTo>
                    <a:pt x="0" y="18902"/>
                    <a:pt x="18902" y="0"/>
                    <a:pt x="42219" y="0"/>
                  </a:cubicBezTo>
                  <a:close/>
                </a:path>
              </a:pathLst>
            </a:custGeom>
            <a:solidFill>
              <a:srgbClr val="E5F0FF"/>
            </a:solidFill>
            <a:ln w="76200" cap="rnd">
              <a:solidFill>
                <a:srgbClr val="2B589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3132" cy="1534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41558" y="6920040"/>
            <a:ext cx="7027320" cy="4104211"/>
            <a:chOff x="0" y="0"/>
            <a:chExt cx="1850817" cy="10809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0817" cy="1080944"/>
            </a:xfrm>
            <a:custGeom>
              <a:avLst/>
              <a:gdLst/>
              <a:ahLst/>
              <a:cxnLst/>
              <a:rect l="l" t="t" r="r" b="b"/>
              <a:pathLst>
                <a:path w="1850817" h="1080944">
                  <a:moveTo>
                    <a:pt x="56186" y="0"/>
                  </a:moveTo>
                  <a:lnTo>
                    <a:pt x="1794631" y="0"/>
                  </a:lnTo>
                  <a:cubicBezTo>
                    <a:pt x="1809532" y="0"/>
                    <a:pt x="1823823" y="5920"/>
                    <a:pt x="1834360" y="16457"/>
                  </a:cubicBezTo>
                  <a:cubicBezTo>
                    <a:pt x="1844897" y="26993"/>
                    <a:pt x="1850817" y="41285"/>
                    <a:pt x="1850817" y="56186"/>
                  </a:cubicBezTo>
                  <a:lnTo>
                    <a:pt x="1850817" y="1024758"/>
                  </a:lnTo>
                  <a:cubicBezTo>
                    <a:pt x="1850817" y="1039660"/>
                    <a:pt x="1844897" y="1053951"/>
                    <a:pt x="1834360" y="1064488"/>
                  </a:cubicBezTo>
                  <a:cubicBezTo>
                    <a:pt x="1823823" y="1075025"/>
                    <a:pt x="1809532" y="1080944"/>
                    <a:pt x="1794631" y="1080944"/>
                  </a:cubicBezTo>
                  <a:lnTo>
                    <a:pt x="56186" y="1080944"/>
                  </a:lnTo>
                  <a:cubicBezTo>
                    <a:pt x="41285" y="1080944"/>
                    <a:pt x="26993" y="1075025"/>
                    <a:pt x="16457" y="1064488"/>
                  </a:cubicBezTo>
                  <a:cubicBezTo>
                    <a:pt x="5920" y="1053951"/>
                    <a:pt x="0" y="1039660"/>
                    <a:pt x="0" y="1024758"/>
                  </a:cubicBezTo>
                  <a:lnTo>
                    <a:pt x="0" y="56186"/>
                  </a:lnTo>
                  <a:cubicBezTo>
                    <a:pt x="0" y="41285"/>
                    <a:pt x="5920" y="26993"/>
                    <a:pt x="16457" y="16457"/>
                  </a:cubicBezTo>
                  <a:cubicBezTo>
                    <a:pt x="26993" y="5920"/>
                    <a:pt x="41285" y="0"/>
                    <a:pt x="56186" y="0"/>
                  </a:cubicBezTo>
                  <a:close/>
                </a:path>
              </a:pathLst>
            </a:custGeom>
            <a:solidFill>
              <a:srgbClr val="2B589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0817" cy="1119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258970" y="1028700"/>
            <a:ext cx="6000330" cy="8063528"/>
            <a:chOff x="0" y="0"/>
            <a:chExt cx="3663950" cy="4923790"/>
          </a:xfrm>
        </p:grpSpPr>
        <p:sp>
          <p:nvSpPr>
            <p:cNvPr id="12" name="Freeform 12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17513" r="-98134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B5894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2039687" y="0"/>
            <a:ext cx="2229878" cy="2229878"/>
          </a:xfrm>
          <a:custGeom>
            <a:avLst/>
            <a:gdLst/>
            <a:ahLst/>
            <a:cxnLst/>
            <a:rect l="l" t="t" r="r" b="b"/>
            <a:pathLst>
              <a:path w="2229878" h="2229878">
                <a:moveTo>
                  <a:pt x="0" y="0"/>
                </a:moveTo>
                <a:lnTo>
                  <a:pt x="2229877" y="0"/>
                </a:lnTo>
                <a:lnTo>
                  <a:pt x="2229877" y="2229878"/>
                </a:lnTo>
                <a:lnTo>
                  <a:pt x="0" y="222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604088" y="5775373"/>
            <a:ext cx="830504" cy="830504"/>
          </a:xfrm>
          <a:custGeom>
            <a:avLst/>
            <a:gdLst/>
            <a:ahLst/>
            <a:cxnLst/>
            <a:rect l="l" t="t" r="r" b="b"/>
            <a:pathLst>
              <a:path w="830504" h="830504">
                <a:moveTo>
                  <a:pt x="0" y="0"/>
                </a:moveTo>
                <a:lnTo>
                  <a:pt x="830504" y="0"/>
                </a:lnTo>
                <a:lnTo>
                  <a:pt x="830504" y="830504"/>
                </a:lnTo>
                <a:lnTo>
                  <a:pt x="0" y="8305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148146" y="9258300"/>
            <a:ext cx="732096" cy="728103"/>
          </a:xfrm>
          <a:custGeom>
            <a:avLst/>
            <a:gdLst/>
            <a:ahLst/>
            <a:cxnLst/>
            <a:rect l="l" t="t" r="r" b="b"/>
            <a:pathLst>
              <a:path w="732096" h="728103">
                <a:moveTo>
                  <a:pt x="0" y="0"/>
                </a:moveTo>
                <a:lnTo>
                  <a:pt x="732096" y="0"/>
                </a:lnTo>
                <a:lnTo>
                  <a:pt x="732096" y="728103"/>
                </a:lnTo>
                <a:lnTo>
                  <a:pt x="0" y="728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18910" y="3446074"/>
            <a:ext cx="9322513" cy="328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</a:pPr>
            <a:r>
              <a:rPr lang="en-US" sz="5829" b="1" spc="2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MULTIPLIEZ VOS PROFITS TOUT EN CONNECTANT LE TOGO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80242" y="9326876"/>
            <a:ext cx="4723846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EQUIPE3 ACDS2025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95090" y="-598610"/>
            <a:ext cx="3192910" cy="11972208"/>
            <a:chOff x="0" y="0"/>
            <a:chExt cx="840931" cy="3153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0931" cy="3153174"/>
            </a:xfrm>
            <a:custGeom>
              <a:avLst/>
              <a:gdLst/>
              <a:ahLst/>
              <a:cxnLst/>
              <a:rect l="l" t="t" r="r" b="b"/>
              <a:pathLst>
                <a:path w="840931" h="3153174">
                  <a:moveTo>
                    <a:pt x="123661" y="0"/>
                  </a:moveTo>
                  <a:lnTo>
                    <a:pt x="717270" y="0"/>
                  </a:lnTo>
                  <a:cubicBezTo>
                    <a:pt x="750067" y="0"/>
                    <a:pt x="781521" y="13029"/>
                    <a:pt x="804712" y="36219"/>
                  </a:cubicBezTo>
                  <a:cubicBezTo>
                    <a:pt x="827903" y="59410"/>
                    <a:pt x="840931" y="90864"/>
                    <a:pt x="840931" y="123661"/>
                  </a:cubicBezTo>
                  <a:lnTo>
                    <a:pt x="840931" y="3029513"/>
                  </a:lnTo>
                  <a:cubicBezTo>
                    <a:pt x="840931" y="3062310"/>
                    <a:pt x="827903" y="3093764"/>
                    <a:pt x="804712" y="3116955"/>
                  </a:cubicBezTo>
                  <a:cubicBezTo>
                    <a:pt x="781521" y="3140146"/>
                    <a:pt x="750067" y="3153174"/>
                    <a:pt x="717270" y="3153174"/>
                  </a:cubicBezTo>
                  <a:lnTo>
                    <a:pt x="123661" y="3153174"/>
                  </a:lnTo>
                  <a:cubicBezTo>
                    <a:pt x="90864" y="3153174"/>
                    <a:pt x="59410" y="3140146"/>
                    <a:pt x="36219" y="3116955"/>
                  </a:cubicBezTo>
                  <a:cubicBezTo>
                    <a:pt x="13029" y="3093764"/>
                    <a:pt x="0" y="3062310"/>
                    <a:pt x="0" y="3029513"/>
                  </a:cubicBezTo>
                  <a:lnTo>
                    <a:pt x="0" y="123661"/>
                  </a:lnTo>
                  <a:cubicBezTo>
                    <a:pt x="0" y="90864"/>
                    <a:pt x="13029" y="59410"/>
                    <a:pt x="36219" y="36219"/>
                  </a:cubicBezTo>
                  <a:cubicBezTo>
                    <a:pt x="59410" y="13029"/>
                    <a:pt x="90864" y="0"/>
                    <a:pt x="123661" y="0"/>
                  </a:cubicBezTo>
                  <a:close/>
                </a:path>
              </a:pathLst>
            </a:custGeom>
            <a:solidFill>
              <a:srgbClr val="2B589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40931" cy="3191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493775" y="1937711"/>
            <a:ext cx="5594593" cy="7518280"/>
            <a:chOff x="0" y="0"/>
            <a:chExt cx="3663950" cy="4923790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83" r="-58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B589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514350" y="-514350"/>
            <a:ext cx="1543050" cy="2225056"/>
            <a:chOff x="0" y="0"/>
            <a:chExt cx="406400" cy="5860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586023"/>
            </a:xfrm>
            <a:custGeom>
              <a:avLst/>
              <a:gdLst/>
              <a:ahLst/>
              <a:cxnLst/>
              <a:rect l="l" t="t" r="r" b="b"/>
              <a:pathLst>
                <a:path w="406400" h="586023">
                  <a:moveTo>
                    <a:pt x="0" y="0"/>
                  </a:moveTo>
                  <a:lnTo>
                    <a:pt x="406400" y="0"/>
                  </a:lnTo>
                  <a:lnTo>
                    <a:pt x="406400" y="586023"/>
                  </a:lnTo>
                  <a:lnTo>
                    <a:pt x="0" y="586023"/>
                  </a:ln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6400" cy="624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434001" y="1001217"/>
            <a:ext cx="934792" cy="936494"/>
          </a:xfrm>
          <a:custGeom>
            <a:avLst/>
            <a:gdLst/>
            <a:ahLst/>
            <a:cxnLst/>
            <a:rect l="l" t="t" r="r" b="b"/>
            <a:pathLst>
              <a:path w="934792" h="936494">
                <a:moveTo>
                  <a:pt x="0" y="0"/>
                </a:moveTo>
                <a:lnTo>
                  <a:pt x="934791" y="0"/>
                </a:lnTo>
                <a:lnTo>
                  <a:pt x="934791" y="936494"/>
                </a:lnTo>
                <a:lnTo>
                  <a:pt x="0" y="93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81508" y="3981582"/>
            <a:ext cx="11274927" cy="424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8468" lvl="1" indent="-359234" algn="just">
              <a:lnSpc>
                <a:spcPts val="4059"/>
              </a:lnSpc>
              <a:buFont typeface="Arial"/>
              <a:buChar char="•"/>
            </a:pPr>
            <a:r>
              <a:rPr lang="en-US" sz="3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98% de précision sur les zones à fort potentiel</a:t>
            </a:r>
          </a:p>
          <a:p>
            <a:pPr algn="just">
              <a:lnSpc>
                <a:spcPts val="4059"/>
              </a:lnSpc>
            </a:pPr>
            <a:endParaRPr lang="en-US" sz="332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18468" lvl="1" indent="-359234" algn="just">
              <a:lnSpc>
                <a:spcPts val="5457"/>
              </a:lnSpc>
              <a:buFont typeface="Arial"/>
              <a:buChar char="•"/>
            </a:pPr>
            <a:r>
              <a:rPr lang="en-US" sz="3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Segmentation granulaire des profils clients</a:t>
            </a:r>
          </a:p>
          <a:p>
            <a:pPr algn="just">
              <a:lnSpc>
                <a:spcPts val="4059"/>
              </a:lnSpc>
            </a:pPr>
            <a:endParaRPr lang="en-US" sz="332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18468" lvl="1" indent="-359234" algn="just">
              <a:lnSpc>
                <a:spcPts val="4059"/>
              </a:lnSpc>
              <a:buFont typeface="Arial"/>
              <a:buChar char="•"/>
            </a:pPr>
            <a:r>
              <a:rPr lang="en-US" sz="3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ROI infrastructure optimisable de 30-40% par an</a:t>
            </a:r>
          </a:p>
          <a:p>
            <a:pPr algn="just">
              <a:lnSpc>
                <a:spcPts val="4059"/>
              </a:lnSpc>
            </a:pPr>
            <a:endParaRPr lang="en-US" sz="332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718468" lvl="1" indent="-359234" algn="just">
              <a:lnSpc>
                <a:spcPts val="4059"/>
              </a:lnSpc>
              <a:buFont typeface="Arial"/>
              <a:buChar char="•"/>
            </a:pPr>
            <a:r>
              <a:rPr lang="en-US" sz="332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Encore 49% du marché de la télephonie </a:t>
            </a:r>
          </a:p>
          <a:p>
            <a:pPr algn="just">
              <a:lnSpc>
                <a:spcPts val="3815"/>
              </a:lnSpc>
            </a:pPr>
            <a:endParaRPr lang="en-US" sz="3327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36241" y="1345254"/>
            <a:ext cx="10922850" cy="72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7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OPPORTUNITÉS DÉTECTÉES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995111"/>
            <a:chOff x="0" y="0"/>
            <a:chExt cx="4816593" cy="2620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62087"/>
            </a:xfrm>
            <a:custGeom>
              <a:avLst/>
              <a:gdLst/>
              <a:ahLst/>
              <a:cxnLst/>
              <a:rect l="l" t="t" r="r" b="b"/>
              <a:pathLst>
                <a:path w="4816592" h="26208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240497"/>
                  </a:lnTo>
                  <a:cubicBezTo>
                    <a:pt x="4816592" y="252421"/>
                    <a:pt x="4806926" y="262087"/>
                    <a:pt x="4795002" y="262087"/>
                  </a:cubicBezTo>
                  <a:lnTo>
                    <a:pt x="21590" y="262087"/>
                  </a:lnTo>
                  <a:cubicBezTo>
                    <a:pt x="15864" y="262087"/>
                    <a:pt x="10372" y="259812"/>
                    <a:pt x="6324" y="255763"/>
                  </a:cubicBezTo>
                  <a:cubicBezTo>
                    <a:pt x="2275" y="251714"/>
                    <a:pt x="0" y="246223"/>
                    <a:pt x="0" y="24049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E5F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0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5842521" cy="1715175"/>
            <a:chOff x="0" y="0"/>
            <a:chExt cx="4172516" cy="4517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72516" cy="451733"/>
            </a:xfrm>
            <a:custGeom>
              <a:avLst/>
              <a:gdLst/>
              <a:ahLst/>
              <a:cxnLst/>
              <a:rect l="l" t="t" r="r" b="b"/>
              <a:pathLst>
                <a:path w="4172516" h="451733">
                  <a:moveTo>
                    <a:pt x="24923" y="0"/>
                  </a:moveTo>
                  <a:lnTo>
                    <a:pt x="4147593" y="0"/>
                  </a:lnTo>
                  <a:cubicBezTo>
                    <a:pt x="4161358" y="0"/>
                    <a:pt x="4172516" y="11158"/>
                    <a:pt x="4172516" y="24923"/>
                  </a:cubicBezTo>
                  <a:lnTo>
                    <a:pt x="4172516" y="426811"/>
                  </a:lnTo>
                  <a:cubicBezTo>
                    <a:pt x="4172516" y="440575"/>
                    <a:pt x="4161358" y="451733"/>
                    <a:pt x="4147593" y="451733"/>
                  </a:cubicBezTo>
                  <a:lnTo>
                    <a:pt x="24923" y="451733"/>
                  </a:lnTo>
                  <a:cubicBezTo>
                    <a:pt x="11158" y="451733"/>
                    <a:pt x="0" y="440575"/>
                    <a:pt x="0" y="426811"/>
                  </a:cubicBezTo>
                  <a:lnTo>
                    <a:pt x="0" y="24923"/>
                  </a:lnTo>
                  <a:cubicBezTo>
                    <a:pt x="0" y="11158"/>
                    <a:pt x="11158" y="0"/>
                    <a:pt x="24923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72516" cy="489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601487" y="1028700"/>
            <a:ext cx="6123909" cy="8229600"/>
            <a:chOff x="0" y="0"/>
            <a:chExt cx="3663950" cy="4923790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1318" r="-5131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B5894"/>
            </a:solidFill>
          </p:spPr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028700" y="3211615"/>
          <a:ext cx="10701574" cy="5391150"/>
        </p:xfrm>
        <a:graphic>
          <a:graphicData uri="http://schemas.openxmlformats.org/drawingml/2006/table">
            <a:tbl>
              <a:tblPr/>
              <a:tblGrid>
                <a:gridCol w="2484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9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64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Valeur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Interprétation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4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Excellente capacité de discrimination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5434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Bon équilibre précision/rappel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4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Précision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83,2% des prédictions positives sont correctes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42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98% des ménages connectés sont détectés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038194" y="1685810"/>
            <a:ext cx="9159667" cy="85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4"/>
              </a:lnSpc>
            </a:pPr>
            <a:r>
              <a:rPr lang="en-US" sz="558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 MODELE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3310" y="448295"/>
            <a:ext cx="15536138" cy="9258300"/>
            <a:chOff x="0" y="0"/>
            <a:chExt cx="4091822" cy="243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1822" cy="2438400"/>
            </a:xfrm>
            <a:custGeom>
              <a:avLst/>
              <a:gdLst/>
              <a:ahLst/>
              <a:cxnLst/>
              <a:rect l="l" t="t" r="r" b="b"/>
              <a:pathLst>
                <a:path w="4091822" h="2438400">
                  <a:moveTo>
                    <a:pt x="25414" y="0"/>
                  </a:moveTo>
                  <a:lnTo>
                    <a:pt x="4066408" y="0"/>
                  </a:lnTo>
                  <a:cubicBezTo>
                    <a:pt x="4080444" y="0"/>
                    <a:pt x="4091822" y="11378"/>
                    <a:pt x="4091822" y="25414"/>
                  </a:cubicBezTo>
                  <a:lnTo>
                    <a:pt x="4091822" y="2412986"/>
                  </a:lnTo>
                  <a:cubicBezTo>
                    <a:pt x="4091822" y="2419726"/>
                    <a:pt x="4089145" y="2426190"/>
                    <a:pt x="4084379" y="2430956"/>
                  </a:cubicBezTo>
                  <a:cubicBezTo>
                    <a:pt x="4079613" y="2435722"/>
                    <a:pt x="4073148" y="2438400"/>
                    <a:pt x="4066408" y="2438400"/>
                  </a:cubicBezTo>
                  <a:lnTo>
                    <a:pt x="25414" y="2438400"/>
                  </a:lnTo>
                  <a:cubicBezTo>
                    <a:pt x="18674" y="2438400"/>
                    <a:pt x="12210" y="2435722"/>
                    <a:pt x="7444" y="2430956"/>
                  </a:cubicBezTo>
                  <a:cubicBezTo>
                    <a:pt x="2678" y="2426190"/>
                    <a:pt x="0" y="2419726"/>
                    <a:pt x="0" y="2412986"/>
                  </a:cubicBezTo>
                  <a:lnTo>
                    <a:pt x="0" y="25414"/>
                  </a:lnTo>
                  <a:cubicBezTo>
                    <a:pt x="0" y="18674"/>
                    <a:pt x="2678" y="12210"/>
                    <a:pt x="7444" y="7444"/>
                  </a:cubicBezTo>
                  <a:cubicBezTo>
                    <a:pt x="12210" y="2678"/>
                    <a:pt x="18674" y="0"/>
                    <a:pt x="25414" y="0"/>
                  </a:cubicBezTo>
                  <a:close/>
                </a:path>
              </a:pathLst>
            </a:custGeom>
            <a:solidFill>
              <a:srgbClr val="E5F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91822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50051" y="3279397"/>
            <a:ext cx="6332820" cy="6047524"/>
            <a:chOff x="0" y="0"/>
            <a:chExt cx="1630602" cy="1557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0602" cy="1557143"/>
            </a:xfrm>
            <a:custGeom>
              <a:avLst/>
              <a:gdLst/>
              <a:ahLst/>
              <a:cxnLst/>
              <a:rect l="l" t="t" r="r" b="b"/>
              <a:pathLst>
                <a:path w="1630602" h="1557143">
                  <a:moveTo>
                    <a:pt x="1630602" y="0"/>
                  </a:moveTo>
                  <a:lnTo>
                    <a:pt x="1630602" y="1557143"/>
                  </a:lnTo>
                  <a:lnTo>
                    <a:pt x="815301" y="1430143"/>
                  </a:lnTo>
                  <a:lnTo>
                    <a:pt x="0" y="1557143"/>
                  </a:lnTo>
                  <a:lnTo>
                    <a:pt x="0" y="0"/>
                  </a:lnTo>
                  <a:lnTo>
                    <a:pt x="163060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30602" cy="1468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84588" y="3341072"/>
            <a:ext cx="6523006" cy="5985850"/>
            <a:chOff x="0" y="0"/>
            <a:chExt cx="1679572" cy="1541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9572" cy="1541263"/>
            </a:xfrm>
            <a:custGeom>
              <a:avLst/>
              <a:gdLst/>
              <a:ahLst/>
              <a:cxnLst/>
              <a:rect l="l" t="t" r="r" b="b"/>
              <a:pathLst>
                <a:path w="1679572" h="1541263">
                  <a:moveTo>
                    <a:pt x="1679572" y="0"/>
                  </a:moveTo>
                  <a:lnTo>
                    <a:pt x="1679572" y="1541263"/>
                  </a:lnTo>
                  <a:lnTo>
                    <a:pt x="839786" y="1414263"/>
                  </a:lnTo>
                  <a:lnTo>
                    <a:pt x="0" y="1541263"/>
                  </a:lnTo>
                  <a:lnTo>
                    <a:pt x="0" y="0"/>
                  </a:lnTo>
                  <a:lnTo>
                    <a:pt x="167957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9572" cy="1452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53965" y="3079029"/>
            <a:ext cx="3695039" cy="917501"/>
            <a:chOff x="0" y="0"/>
            <a:chExt cx="973179" cy="2416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3179" cy="241646"/>
            </a:xfrm>
            <a:custGeom>
              <a:avLst/>
              <a:gdLst/>
              <a:ahLst/>
              <a:cxnLst/>
              <a:rect l="l" t="t" r="r" b="b"/>
              <a:pathLst>
                <a:path w="973179" h="241646">
                  <a:moveTo>
                    <a:pt x="893761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62228"/>
                  </a:lnTo>
                  <a:cubicBezTo>
                    <a:pt x="43699" y="162228"/>
                    <a:pt x="79418" y="197567"/>
                    <a:pt x="79418" y="241646"/>
                  </a:cubicBezTo>
                  <a:lnTo>
                    <a:pt x="893761" y="241646"/>
                  </a:lnTo>
                  <a:cubicBezTo>
                    <a:pt x="893761" y="197947"/>
                    <a:pt x="929100" y="162228"/>
                    <a:pt x="973179" y="162228"/>
                  </a:cubicBezTo>
                  <a:lnTo>
                    <a:pt x="973179" y="79418"/>
                  </a:lnTo>
                  <a:cubicBezTo>
                    <a:pt x="929480" y="79418"/>
                    <a:pt x="893761" y="44079"/>
                    <a:pt x="893761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38100" y="0"/>
              <a:ext cx="896979" cy="20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39054" y="3079029"/>
            <a:ext cx="3238684" cy="917501"/>
            <a:chOff x="0" y="0"/>
            <a:chExt cx="852987" cy="2416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2987" cy="241646"/>
            </a:xfrm>
            <a:custGeom>
              <a:avLst/>
              <a:gdLst/>
              <a:ahLst/>
              <a:cxnLst/>
              <a:rect l="l" t="t" r="r" b="b"/>
              <a:pathLst>
                <a:path w="852987" h="241646">
                  <a:moveTo>
                    <a:pt x="77356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62228"/>
                  </a:lnTo>
                  <a:cubicBezTo>
                    <a:pt x="43699" y="162228"/>
                    <a:pt x="79418" y="197567"/>
                    <a:pt x="79418" y="241646"/>
                  </a:cubicBezTo>
                  <a:lnTo>
                    <a:pt x="773568" y="241646"/>
                  </a:lnTo>
                  <a:cubicBezTo>
                    <a:pt x="773568" y="197947"/>
                    <a:pt x="808908" y="162228"/>
                    <a:pt x="852987" y="162228"/>
                  </a:cubicBezTo>
                  <a:lnTo>
                    <a:pt x="852987" y="79418"/>
                  </a:lnTo>
                  <a:cubicBezTo>
                    <a:pt x="809287" y="79418"/>
                    <a:pt x="773568" y="44079"/>
                    <a:pt x="773568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38100" y="0"/>
              <a:ext cx="776787" cy="20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01945" y="5143500"/>
            <a:ext cx="1459206" cy="847281"/>
            <a:chOff x="0" y="0"/>
            <a:chExt cx="933215" cy="5418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3215" cy="541867"/>
            </a:xfrm>
            <a:custGeom>
              <a:avLst/>
              <a:gdLst/>
              <a:ahLst/>
              <a:cxnLst/>
              <a:rect l="l" t="t" r="r" b="b"/>
              <a:pathLst>
                <a:path w="933215" h="541867">
                  <a:moveTo>
                    <a:pt x="933215" y="270933"/>
                  </a:moveTo>
                  <a:lnTo>
                    <a:pt x="526815" y="0"/>
                  </a:lnTo>
                  <a:lnTo>
                    <a:pt x="526815" y="203200"/>
                  </a:lnTo>
                  <a:lnTo>
                    <a:pt x="0" y="203200"/>
                  </a:lnTo>
                  <a:lnTo>
                    <a:pt x="0" y="338667"/>
                  </a:lnTo>
                  <a:lnTo>
                    <a:pt x="526815" y="338667"/>
                  </a:lnTo>
                  <a:lnTo>
                    <a:pt x="526815" y="541867"/>
                  </a:lnTo>
                  <a:lnTo>
                    <a:pt x="933215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65100"/>
              <a:ext cx="831615" cy="173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430672" y="4417134"/>
            <a:ext cx="5971577" cy="395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Déploiement ciblé dans les zones à fort potentiel identifiées</a:t>
            </a:r>
          </a:p>
          <a:p>
            <a:pPr algn="ctr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Scoring prédictif pour priorisation commercial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Stratégie tarifaire différenciée par segment</a:t>
            </a:r>
          </a:p>
          <a:p>
            <a:pPr algn="ctr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03225" y="1373237"/>
            <a:ext cx="14509514" cy="77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9"/>
              </a:lnSpc>
            </a:pPr>
            <a:r>
              <a:rPr lang="en-US" sz="5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MAXIMISATION DE LA RENTABILITÉ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16434" y="4417134"/>
            <a:ext cx="6883924" cy="439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ROI Infrastructure : +35% (12 mois )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Coût d'acquisition client : -30%</a:t>
            </a:r>
          </a:p>
          <a:p>
            <a:pPr algn="ctr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Taux de conversion campagnes : +50%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ARPU global : +15%</a:t>
            </a:r>
          </a:p>
          <a:p>
            <a:pPr algn="ctr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403225" y="3341072"/>
            <a:ext cx="5114500" cy="393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58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59224" y="3341072"/>
            <a:ext cx="6198344" cy="393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58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557" y="2188912"/>
            <a:ext cx="743419" cy="59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R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E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O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</a:p>
          <a:p>
            <a:pPr algn="l">
              <a:lnSpc>
                <a:spcPts val="3065"/>
              </a:lnSpc>
            </a:pPr>
            <a:r>
              <a:rPr lang="en-US" sz="29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D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O</a:t>
            </a:r>
          </a:p>
          <a:p>
            <a:pPr algn="l">
              <a:lnSpc>
                <a:spcPts val="2961"/>
              </a:lnSpc>
            </a:pPr>
            <a:r>
              <a:rPr lang="en-US" sz="28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3310" y="448295"/>
            <a:ext cx="15536138" cy="9258300"/>
            <a:chOff x="0" y="0"/>
            <a:chExt cx="4091822" cy="243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1822" cy="2438400"/>
            </a:xfrm>
            <a:custGeom>
              <a:avLst/>
              <a:gdLst/>
              <a:ahLst/>
              <a:cxnLst/>
              <a:rect l="l" t="t" r="r" b="b"/>
              <a:pathLst>
                <a:path w="4091822" h="2438400">
                  <a:moveTo>
                    <a:pt x="25414" y="0"/>
                  </a:moveTo>
                  <a:lnTo>
                    <a:pt x="4066408" y="0"/>
                  </a:lnTo>
                  <a:cubicBezTo>
                    <a:pt x="4080444" y="0"/>
                    <a:pt x="4091822" y="11378"/>
                    <a:pt x="4091822" y="25414"/>
                  </a:cubicBezTo>
                  <a:lnTo>
                    <a:pt x="4091822" y="2412986"/>
                  </a:lnTo>
                  <a:cubicBezTo>
                    <a:pt x="4091822" y="2419726"/>
                    <a:pt x="4089145" y="2426190"/>
                    <a:pt x="4084379" y="2430956"/>
                  </a:cubicBezTo>
                  <a:cubicBezTo>
                    <a:pt x="4079613" y="2435722"/>
                    <a:pt x="4073148" y="2438400"/>
                    <a:pt x="4066408" y="2438400"/>
                  </a:cubicBezTo>
                  <a:lnTo>
                    <a:pt x="25414" y="2438400"/>
                  </a:lnTo>
                  <a:cubicBezTo>
                    <a:pt x="18674" y="2438400"/>
                    <a:pt x="12210" y="2435722"/>
                    <a:pt x="7444" y="2430956"/>
                  </a:cubicBezTo>
                  <a:cubicBezTo>
                    <a:pt x="2678" y="2426190"/>
                    <a:pt x="0" y="2419726"/>
                    <a:pt x="0" y="2412986"/>
                  </a:cubicBezTo>
                  <a:lnTo>
                    <a:pt x="0" y="25414"/>
                  </a:lnTo>
                  <a:cubicBezTo>
                    <a:pt x="0" y="18674"/>
                    <a:pt x="2678" y="12210"/>
                    <a:pt x="7444" y="7444"/>
                  </a:cubicBezTo>
                  <a:cubicBezTo>
                    <a:pt x="12210" y="2678"/>
                    <a:pt x="18674" y="0"/>
                    <a:pt x="25414" y="0"/>
                  </a:cubicBezTo>
                  <a:close/>
                </a:path>
              </a:pathLst>
            </a:custGeom>
            <a:solidFill>
              <a:srgbClr val="E5F0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091822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50051" y="3279397"/>
            <a:ext cx="6332820" cy="6047524"/>
            <a:chOff x="0" y="0"/>
            <a:chExt cx="1630602" cy="1557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0602" cy="1557143"/>
            </a:xfrm>
            <a:custGeom>
              <a:avLst/>
              <a:gdLst/>
              <a:ahLst/>
              <a:cxnLst/>
              <a:rect l="l" t="t" r="r" b="b"/>
              <a:pathLst>
                <a:path w="1630602" h="1557143">
                  <a:moveTo>
                    <a:pt x="1630602" y="0"/>
                  </a:moveTo>
                  <a:lnTo>
                    <a:pt x="1630602" y="1557143"/>
                  </a:lnTo>
                  <a:lnTo>
                    <a:pt x="815301" y="1430143"/>
                  </a:lnTo>
                  <a:lnTo>
                    <a:pt x="0" y="1557143"/>
                  </a:lnTo>
                  <a:lnTo>
                    <a:pt x="0" y="0"/>
                  </a:lnTo>
                  <a:lnTo>
                    <a:pt x="163060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30602" cy="1468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84588" y="3341072"/>
            <a:ext cx="6523006" cy="5985850"/>
            <a:chOff x="0" y="0"/>
            <a:chExt cx="1679572" cy="15412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9572" cy="1541263"/>
            </a:xfrm>
            <a:custGeom>
              <a:avLst/>
              <a:gdLst/>
              <a:ahLst/>
              <a:cxnLst/>
              <a:rect l="l" t="t" r="r" b="b"/>
              <a:pathLst>
                <a:path w="1679572" h="1541263">
                  <a:moveTo>
                    <a:pt x="1679572" y="0"/>
                  </a:moveTo>
                  <a:lnTo>
                    <a:pt x="1679572" y="1541263"/>
                  </a:lnTo>
                  <a:lnTo>
                    <a:pt x="839786" y="1414263"/>
                  </a:lnTo>
                  <a:lnTo>
                    <a:pt x="0" y="1541263"/>
                  </a:lnTo>
                  <a:lnTo>
                    <a:pt x="0" y="0"/>
                  </a:lnTo>
                  <a:lnTo>
                    <a:pt x="167957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9572" cy="1452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53965" y="3079029"/>
            <a:ext cx="3695039" cy="917501"/>
            <a:chOff x="0" y="0"/>
            <a:chExt cx="973179" cy="2416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3179" cy="241646"/>
            </a:xfrm>
            <a:custGeom>
              <a:avLst/>
              <a:gdLst/>
              <a:ahLst/>
              <a:cxnLst/>
              <a:rect l="l" t="t" r="r" b="b"/>
              <a:pathLst>
                <a:path w="973179" h="241646">
                  <a:moveTo>
                    <a:pt x="893761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62228"/>
                  </a:lnTo>
                  <a:cubicBezTo>
                    <a:pt x="43699" y="162228"/>
                    <a:pt x="79418" y="197567"/>
                    <a:pt x="79418" y="241646"/>
                  </a:cubicBezTo>
                  <a:lnTo>
                    <a:pt x="893761" y="241646"/>
                  </a:lnTo>
                  <a:cubicBezTo>
                    <a:pt x="893761" y="197947"/>
                    <a:pt x="929100" y="162228"/>
                    <a:pt x="973179" y="162228"/>
                  </a:cubicBezTo>
                  <a:lnTo>
                    <a:pt x="973179" y="79418"/>
                  </a:lnTo>
                  <a:cubicBezTo>
                    <a:pt x="929480" y="79418"/>
                    <a:pt x="893761" y="44079"/>
                    <a:pt x="893761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38100" y="0"/>
              <a:ext cx="896979" cy="20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39054" y="3079029"/>
            <a:ext cx="3238684" cy="917501"/>
            <a:chOff x="0" y="0"/>
            <a:chExt cx="852987" cy="2416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2987" cy="241646"/>
            </a:xfrm>
            <a:custGeom>
              <a:avLst/>
              <a:gdLst/>
              <a:ahLst/>
              <a:cxnLst/>
              <a:rect l="l" t="t" r="r" b="b"/>
              <a:pathLst>
                <a:path w="852987" h="241646">
                  <a:moveTo>
                    <a:pt x="77356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62228"/>
                  </a:lnTo>
                  <a:cubicBezTo>
                    <a:pt x="43699" y="162228"/>
                    <a:pt x="79418" y="197567"/>
                    <a:pt x="79418" y="241646"/>
                  </a:cubicBezTo>
                  <a:lnTo>
                    <a:pt x="773568" y="241646"/>
                  </a:lnTo>
                  <a:cubicBezTo>
                    <a:pt x="773568" y="197947"/>
                    <a:pt x="808908" y="162228"/>
                    <a:pt x="852987" y="162228"/>
                  </a:cubicBezTo>
                  <a:lnTo>
                    <a:pt x="852987" y="79418"/>
                  </a:lnTo>
                  <a:cubicBezTo>
                    <a:pt x="809287" y="79418"/>
                    <a:pt x="773568" y="44079"/>
                    <a:pt x="773568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38100" y="0"/>
              <a:ext cx="776787" cy="203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01945" y="5143500"/>
            <a:ext cx="1459206" cy="847281"/>
            <a:chOff x="0" y="0"/>
            <a:chExt cx="933215" cy="5418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3215" cy="541867"/>
            </a:xfrm>
            <a:custGeom>
              <a:avLst/>
              <a:gdLst/>
              <a:ahLst/>
              <a:cxnLst/>
              <a:rect l="l" t="t" r="r" b="b"/>
              <a:pathLst>
                <a:path w="933215" h="541867">
                  <a:moveTo>
                    <a:pt x="933215" y="270933"/>
                  </a:moveTo>
                  <a:lnTo>
                    <a:pt x="526815" y="0"/>
                  </a:lnTo>
                  <a:lnTo>
                    <a:pt x="526815" y="203200"/>
                  </a:lnTo>
                  <a:lnTo>
                    <a:pt x="0" y="203200"/>
                  </a:lnTo>
                  <a:lnTo>
                    <a:pt x="0" y="338667"/>
                  </a:lnTo>
                  <a:lnTo>
                    <a:pt x="526815" y="338667"/>
                  </a:lnTo>
                  <a:lnTo>
                    <a:pt x="526815" y="541867"/>
                  </a:lnTo>
                  <a:lnTo>
                    <a:pt x="933215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65100"/>
              <a:ext cx="831615" cy="173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430672" y="4417134"/>
            <a:ext cx="5971577" cy="395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Partenariats public-privé pour zones rurales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Mutualisation des infrastructures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Offres inclusives pour segments défavorisés</a:t>
            </a:r>
          </a:p>
          <a:p>
            <a:pPr algn="ctr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03225" y="1373237"/>
            <a:ext cx="14509514" cy="77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9"/>
              </a:lnSpc>
            </a:pPr>
            <a:r>
              <a:rPr lang="en-US" sz="5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ACCÉLÉRATION DE LA CROISSANCE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75376" y="4188956"/>
            <a:ext cx="6537363" cy="526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clients : +80% en 12 mois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CAPEX zones rurales : -40% (via mutualisation)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Accès subventions publiques : 15-25% des coûts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3044" lvl="1" indent="-311522" algn="l">
              <a:lnSpc>
                <a:spcPts val="3520"/>
              </a:lnSpc>
              <a:buFont typeface="Arial"/>
              <a:buChar char="•"/>
            </a:pPr>
            <a:r>
              <a:rPr lang="en-US" sz="288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Leadership marché &amp; image RSE renforcée</a:t>
            </a:r>
          </a:p>
          <a:p>
            <a:pPr algn="l">
              <a:lnSpc>
                <a:spcPts val="3520"/>
              </a:lnSpc>
            </a:pPr>
            <a:endParaRPr lang="en-US" sz="2885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403225" y="3341072"/>
            <a:ext cx="5114500" cy="393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58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59224" y="3341072"/>
            <a:ext cx="6198344" cy="393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58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557" y="2188912"/>
            <a:ext cx="743419" cy="59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R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E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O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</a:p>
          <a:p>
            <a:pPr algn="l">
              <a:lnSpc>
                <a:spcPts val="3065"/>
              </a:lnSpc>
            </a:pPr>
            <a:r>
              <a:rPr lang="en-US" sz="29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D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</a:t>
            </a:r>
          </a:p>
          <a:p>
            <a:pPr algn="l">
              <a:lnSpc>
                <a:spcPts val="3377"/>
              </a:lnSpc>
            </a:pPr>
            <a:r>
              <a:rPr lang="en-US" sz="32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O</a:t>
            </a:r>
          </a:p>
          <a:p>
            <a:pPr algn="l">
              <a:lnSpc>
                <a:spcPts val="2961"/>
              </a:lnSpc>
            </a:pPr>
            <a:r>
              <a:rPr lang="en-US" sz="284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80805" y="2967568"/>
            <a:ext cx="1309505" cy="4351865"/>
            <a:chOff x="0" y="0"/>
            <a:chExt cx="344890" cy="11461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4890" cy="1146170"/>
            </a:xfrm>
            <a:custGeom>
              <a:avLst/>
              <a:gdLst/>
              <a:ahLst/>
              <a:cxnLst/>
              <a:rect l="l" t="t" r="r" b="b"/>
              <a:pathLst>
                <a:path w="344890" h="1146170">
                  <a:moveTo>
                    <a:pt x="147802" y="0"/>
                  </a:moveTo>
                  <a:lnTo>
                    <a:pt x="197088" y="0"/>
                  </a:lnTo>
                  <a:cubicBezTo>
                    <a:pt x="236288" y="0"/>
                    <a:pt x="273882" y="15572"/>
                    <a:pt x="301600" y="43290"/>
                  </a:cubicBezTo>
                  <a:cubicBezTo>
                    <a:pt x="329318" y="71009"/>
                    <a:pt x="344890" y="108603"/>
                    <a:pt x="344890" y="147802"/>
                  </a:cubicBezTo>
                  <a:lnTo>
                    <a:pt x="344890" y="998368"/>
                  </a:lnTo>
                  <a:cubicBezTo>
                    <a:pt x="344890" y="1037567"/>
                    <a:pt x="329318" y="1075162"/>
                    <a:pt x="301600" y="1102880"/>
                  </a:cubicBezTo>
                  <a:cubicBezTo>
                    <a:pt x="273882" y="1130598"/>
                    <a:pt x="236288" y="1146170"/>
                    <a:pt x="197088" y="1146170"/>
                  </a:cubicBezTo>
                  <a:lnTo>
                    <a:pt x="147802" y="1146170"/>
                  </a:lnTo>
                  <a:cubicBezTo>
                    <a:pt x="108603" y="1146170"/>
                    <a:pt x="71009" y="1130598"/>
                    <a:pt x="43290" y="1102880"/>
                  </a:cubicBezTo>
                  <a:cubicBezTo>
                    <a:pt x="15572" y="1075162"/>
                    <a:pt x="0" y="1037567"/>
                    <a:pt x="0" y="998368"/>
                  </a:cubicBezTo>
                  <a:lnTo>
                    <a:pt x="0" y="147802"/>
                  </a:lnTo>
                  <a:cubicBezTo>
                    <a:pt x="0" y="108603"/>
                    <a:pt x="15572" y="71009"/>
                    <a:pt x="43290" y="43290"/>
                  </a:cubicBezTo>
                  <a:cubicBezTo>
                    <a:pt x="71009" y="15572"/>
                    <a:pt x="108603" y="0"/>
                    <a:pt x="147802" y="0"/>
                  </a:cubicBezTo>
                  <a:close/>
                </a:path>
              </a:pathLst>
            </a:custGeom>
            <a:solidFill>
              <a:srgbClr val="FFC700">
                <a:alpha val="4392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4890" cy="1184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7777" y="-251375"/>
            <a:ext cx="4789934" cy="10923738"/>
            <a:chOff x="0" y="0"/>
            <a:chExt cx="1261547" cy="2877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1547" cy="2877034"/>
            </a:xfrm>
            <a:custGeom>
              <a:avLst/>
              <a:gdLst/>
              <a:ahLst/>
              <a:cxnLst/>
              <a:rect l="l" t="t" r="r" b="b"/>
              <a:pathLst>
                <a:path w="1261547" h="2877034">
                  <a:moveTo>
                    <a:pt x="0" y="0"/>
                  </a:moveTo>
                  <a:lnTo>
                    <a:pt x="1261547" y="0"/>
                  </a:lnTo>
                  <a:lnTo>
                    <a:pt x="1261547" y="2877034"/>
                  </a:lnTo>
                  <a:lnTo>
                    <a:pt x="0" y="2877034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1547" cy="2915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072387" y="802308"/>
            <a:ext cx="373825" cy="1489884"/>
          </a:xfrm>
          <a:custGeom>
            <a:avLst/>
            <a:gdLst/>
            <a:ahLst/>
            <a:cxnLst/>
            <a:rect l="l" t="t" r="r" b="b"/>
            <a:pathLst>
              <a:path w="373825" h="1489884">
                <a:moveTo>
                  <a:pt x="0" y="0"/>
                </a:moveTo>
                <a:lnTo>
                  <a:pt x="373826" y="0"/>
                </a:lnTo>
                <a:lnTo>
                  <a:pt x="373826" y="1489884"/>
                </a:lnTo>
                <a:lnTo>
                  <a:pt x="0" y="148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39437" y="4050554"/>
            <a:ext cx="8216473" cy="1372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43"/>
              </a:lnSpc>
            </a:pPr>
            <a:r>
              <a:rPr lang="en-US" sz="10457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MERCI</a:t>
            </a:r>
          </a:p>
        </p:txBody>
      </p:sp>
      <p:sp>
        <p:nvSpPr>
          <p:cNvPr id="11" name="Freeform 11"/>
          <p:cNvSpPr/>
          <p:nvPr/>
        </p:nvSpPr>
        <p:spPr>
          <a:xfrm>
            <a:off x="1864416" y="737690"/>
            <a:ext cx="2402172" cy="2402172"/>
          </a:xfrm>
          <a:custGeom>
            <a:avLst/>
            <a:gdLst/>
            <a:ahLst/>
            <a:cxnLst/>
            <a:rect l="l" t="t" r="r" b="b"/>
            <a:pathLst>
              <a:path w="2402172" h="2402172">
                <a:moveTo>
                  <a:pt x="0" y="0"/>
                </a:moveTo>
                <a:lnTo>
                  <a:pt x="2402172" y="0"/>
                </a:lnTo>
                <a:lnTo>
                  <a:pt x="2402172" y="2402172"/>
                </a:lnTo>
                <a:lnTo>
                  <a:pt x="0" y="2402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33273" y="5914421"/>
            <a:ext cx="5888109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POUR VOTRE ATTENTION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224</Words>
  <Application>Microsoft Office PowerPoint</Application>
  <PresentationFormat>Personnalisé</PresentationFormat>
  <Paragraphs>88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Open Sans</vt:lpstr>
      <vt:lpstr>Garet Bold</vt:lpstr>
      <vt:lpstr>Open Sans Bold</vt:lpstr>
      <vt:lpstr>Garet</vt:lpstr>
      <vt:lpstr>Roboto</vt:lpstr>
      <vt:lpstr>League Spartan</vt:lpstr>
      <vt:lpstr>Calibri</vt:lpstr>
      <vt:lpstr>Arial</vt:lpstr>
      <vt:lpstr>Garamond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Simple Business Proposal Presentation</dc:title>
  <dc:creator>HP</dc:creator>
  <cp:lastModifiedBy>HP</cp:lastModifiedBy>
  <cp:revision>4</cp:revision>
  <dcterms:created xsi:type="dcterms:W3CDTF">2006-08-16T00:00:00Z</dcterms:created>
  <dcterms:modified xsi:type="dcterms:W3CDTF">2025-12-24T01:59:59Z</dcterms:modified>
  <dc:identifier>DAG8XmExgV4</dc:identifier>
</cp:coreProperties>
</file>